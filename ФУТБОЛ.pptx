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ru-RU"/>
              <a:t>Образец заголовка</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39F7AEDE-A617-4FC9-8699-A295B22D15E8}" type="datetimeFigureOut">
              <a:rPr lang="ru-RU" smtClean="0"/>
              <a:t>08.04.2022</a:t>
            </a:fld>
            <a:endParaRPr lang="ru-RU"/>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ru-RU"/>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CD07F370-57BE-40CC-97D2-DA0CB11E7710}" type="slidenum">
              <a:rPr lang="ru-RU" smtClean="0"/>
              <a:t>‹#›</a:t>
            </a:fld>
            <a:endParaRPr lang="ru-RU"/>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84789761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9F7AEDE-A617-4FC9-8699-A295B22D15E8}" type="datetimeFigureOut">
              <a:rPr lang="ru-RU" smtClean="0"/>
              <a:t>08.04.2022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D07F370-57BE-40CC-97D2-DA0CB11E7710}" type="slidenum">
              <a:rPr lang="ru-RU" smtClean="0"/>
              <a:t>‹#›</a:t>
            </a:fld>
            <a:endParaRPr lang="ru-RU"/>
          </a:p>
        </p:txBody>
      </p:sp>
    </p:spTree>
    <p:extLst>
      <p:ext uri="{BB962C8B-B14F-4D97-AF65-F5344CB8AC3E}">
        <p14:creationId xmlns:p14="http://schemas.microsoft.com/office/powerpoint/2010/main" val="526611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39F7AEDE-A617-4FC9-8699-A295B22D15E8}" type="datetimeFigureOut">
              <a:rPr lang="ru-RU" smtClean="0"/>
              <a:t>08.04.2022</a:t>
            </a:fld>
            <a:endParaRPr lang="ru-RU"/>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ru-RU"/>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CD07F370-57BE-40CC-97D2-DA0CB11E7710}" type="slidenum">
              <a:rPr lang="ru-RU" smtClean="0"/>
              <a:t>‹#›</a:t>
            </a:fld>
            <a:endParaRPr lang="ru-RU"/>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82466747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ru-RU"/>
              <a:t>Образец заголовка</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39F7AEDE-A617-4FC9-8699-A295B22D15E8}" type="datetimeFigureOut">
              <a:rPr lang="ru-RU" smtClean="0"/>
              <a:t>08.04.2022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CD07F370-57BE-40CC-97D2-DA0CB11E7710}" type="slidenum">
              <a:rPr lang="ru-RU" smtClean="0"/>
              <a:t>‹#›</a:t>
            </a:fld>
            <a:endParaRPr lang="ru-RU"/>
          </a:p>
        </p:txBody>
      </p:sp>
    </p:spTree>
    <p:extLst>
      <p:ext uri="{BB962C8B-B14F-4D97-AF65-F5344CB8AC3E}">
        <p14:creationId xmlns:p14="http://schemas.microsoft.com/office/powerpoint/2010/main" val="54212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39F7AEDE-A617-4FC9-8699-A295B22D15E8}" type="datetimeFigureOut">
              <a:rPr lang="ru-RU" smtClean="0"/>
              <a:t>08.04.2022</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CD07F370-57BE-40CC-97D2-DA0CB11E7710}" type="slidenum">
              <a:rPr lang="ru-RU" smtClean="0"/>
              <a:t>‹#›</a:t>
            </a:fld>
            <a:endParaRPr lang="ru-RU"/>
          </a:p>
        </p:txBody>
      </p:sp>
    </p:spTree>
    <p:extLst>
      <p:ext uri="{BB962C8B-B14F-4D97-AF65-F5344CB8AC3E}">
        <p14:creationId xmlns:p14="http://schemas.microsoft.com/office/powerpoint/2010/main" val="1041423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39F7AEDE-A617-4FC9-8699-A295B22D15E8}" type="datetimeFigureOut">
              <a:rPr lang="ru-RU" smtClean="0"/>
              <a:t>08.04.2022</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CD07F370-57BE-40CC-97D2-DA0CB11E7710}" type="slidenum">
              <a:rPr lang="ru-RU" smtClean="0"/>
              <a:t>‹#›</a:t>
            </a:fld>
            <a:endParaRPr lang="ru-RU"/>
          </a:p>
        </p:txBody>
      </p:sp>
    </p:spTree>
    <p:extLst>
      <p:ext uri="{BB962C8B-B14F-4D97-AF65-F5344CB8AC3E}">
        <p14:creationId xmlns:p14="http://schemas.microsoft.com/office/powerpoint/2010/main" val="3570392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F7AEDE-A617-4FC9-8699-A295B22D15E8}" type="datetimeFigureOut">
              <a:rPr lang="ru-RU" smtClean="0"/>
              <a:t>08.04.2022</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CD07F370-57BE-40CC-97D2-DA0CB11E7710}" type="slidenum">
              <a:rPr lang="ru-RU" smtClean="0"/>
              <a:t>‹#›</a:t>
            </a:fld>
            <a:endParaRPr lang="ru-RU"/>
          </a:p>
        </p:txBody>
      </p:sp>
    </p:spTree>
    <p:extLst>
      <p:ext uri="{BB962C8B-B14F-4D97-AF65-F5344CB8AC3E}">
        <p14:creationId xmlns:p14="http://schemas.microsoft.com/office/powerpoint/2010/main" val="4140256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ru-RU"/>
              <a:t>Образец заголовка</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39F7AEDE-A617-4FC9-8699-A295B22D15E8}" type="datetimeFigureOut">
              <a:rPr lang="ru-RU" smtClean="0"/>
              <a:t>08.04.2022</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CD07F370-57BE-40CC-97D2-DA0CB11E771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15662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39F7AEDE-A617-4FC9-8699-A295B22D15E8}" type="datetimeFigureOut">
              <a:rPr lang="ru-RU" smtClean="0"/>
              <a:t>08.04.2022</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CD07F370-57BE-40CC-97D2-DA0CB11E771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26756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9F7AEDE-A617-4FC9-8699-A295B22D15E8}" type="datetimeFigureOut">
              <a:rPr lang="ru-RU" smtClean="0"/>
              <a:t>08.04.2022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D07F370-57BE-40CC-97D2-DA0CB11E7710}" type="slidenum">
              <a:rPr lang="ru-RU" smtClean="0"/>
              <a:t>‹#›</a:t>
            </a:fld>
            <a:endParaRPr lang="ru-RU"/>
          </a:p>
        </p:txBody>
      </p:sp>
    </p:spTree>
    <p:extLst>
      <p:ext uri="{BB962C8B-B14F-4D97-AF65-F5344CB8AC3E}">
        <p14:creationId xmlns:p14="http://schemas.microsoft.com/office/powerpoint/2010/main" val="1858730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9F7AEDE-A617-4FC9-8699-A295B22D15E8}" type="datetimeFigureOut">
              <a:rPr lang="ru-RU" smtClean="0"/>
              <a:t>08.04.2022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CD07F370-57BE-40CC-97D2-DA0CB11E7710}" type="slidenum">
              <a:rPr lang="ru-RU" smtClean="0"/>
              <a:t>‹#›</a:t>
            </a:fld>
            <a:endParaRPr lang="ru-RU"/>
          </a:p>
        </p:txBody>
      </p:sp>
    </p:spTree>
    <p:extLst>
      <p:ext uri="{BB962C8B-B14F-4D97-AF65-F5344CB8AC3E}">
        <p14:creationId xmlns:p14="http://schemas.microsoft.com/office/powerpoint/2010/main" val="3986439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39F7AEDE-A617-4FC9-8699-A295B22D15E8}" type="datetimeFigureOut">
              <a:rPr lang="ru-RU" smtClean="0"/>
              <a:t>08.04.2022</a:t>
            </a:fld>
            <a:endParaRPr lang="ru-RU"/>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ru-RU"/>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CD07F370-57BE-40CC-97D2-DA0CB11E7710}" type="slidenum">
              <a:rPr lang="ru-RU" smtClean="0"/>
              <a:t>‹#›</a:t>
            </a:fld>
            <a:endParaRPr lang="ru-RU"/>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354576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ru.wikipedia.org/wiki/%D0%A4%D1%83%D1%82%D0%B1%D0%BE%D0%BB#cite_note-35"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A1594B-9B65-4F6E-9CBB-24B73C6F5EF7}"/>
              </a:ext>
            </a:extLst>
          </p:cNvPr>
          <p:cNvSpPr>
            <a:spLocks noGrp="1"/>
          </p:cNvSpPr>
          <p:nvPr>
            <p:ph type="ctrTitle"/>
          </p:nvPr>
        </p:nvSpPr>
        <p:spPr/>
        <p:txBody>
          <a:bodyPr/>
          <a:lstStyle/>
          <a:p>
            <a:r>
              <a:rPr lang="ru-RU" dirty="0"/>
              <a:t>ФУТБОЛ</a:t>
            </a:r>
          </a:p>
        </p:txBody>
      </p:sp>
      <p:sp>
        <p:nvSpPr>
          <p:cNvPr id="3" name="Подзаголовок 2">
            <a:extLst>
              <a:ext uri="{FF2B5EF4-FFF2-40B4-BE49-F238E27FC236}">
                <a16:creationId xmlns:a16="http://schemas.microsoft.com/office/drawing/2014/main" id="{B51F96A9-0276-41AB-B260-67DE07630DF0}"/>
              </a:ext>
            </a:extLst>
          </p:cNvPr>
          <p:cNvSpPr>
            <a:spLocks noGrp="1"/>
          </p:cNvSpPr>
          <p:nvPr>
            <p:ph type="subTitle" idx="1"/>
          </p:nvPr>
        </p:nvSpPr>
        <p:spPr>
          <a:xfrm>
            <a:off x="411060" y="5637402"/>
            <a:ext cx="7868873" cy="805343"/>
          </a:xfrm>
        </p:spPr>
        <p:txBody>
          <a:bodyPr>
            <a:normAutofit/>
          </a:bodyPr>
          <a:lstStyle/>
          <a:p>
            <a:r>
              <a:rPr lang="ru-RU" dirty="0"/>
              <a:t>Выполнил студент 17-ой группы Илья Романюк</a:t>
            </a:r>
          </a:p>
        </p:txBody>
      </p:sp>
    </p:spTree>
    <p:extLst>
      <p:ext uri="{BB962C8B-B14F-4D97-AF65-F5344CB8AC3E}">
        <p14:creationId xmlns:p14="http://schemas.microsoft.com/office/powerpoint/2010/main" val="3788200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78E1E7-9DBC-4F4D-B358-83642BBF9E05}"/>
              </a:ext>
            </a:extLst>
          </p:cNvPr>
          <p:cNvSpPr>
            <a:spLocks noGrp="1"/>
          </p:cNvSpPr>
          <p:nvPr>
            <p:ph type="title"/>
          </p:nvPr>
        </p:nvSpPr>
        <p:spPr>
          <a:xfrm>
            <a:off x="1371600" y="685800"/>
            <a:ext cx="9601200" cy="840996"/>
          </a:xfrm>
        </p:spPr>
        <p:txBody>
          <a:bodyPr/>
          <a:lstStyle/>
          <a:p>
            <a:pPr algn="ctr"/>
            <a:r>
              <a:rPr lang="ru-RU" dirty="0"/>
              <a:t>История футбола</a:t>
            </a:r>
          </a:p>
        </p:txBody>
      </p:sp>
      <p:sp>
        <p:nvSpPr>
          <p:cNvPr id="3" name="Объект 2">
            <a:extLst>
              <a:ext uri="{FF2B5EF4-FFF2-40B4-BE49-F238E27FC236}">
                <a16:creationId xmlns:a16="http://schemas.microsoft.com/office/drawing/2014/main" id="{F8FA7F11-3A4F-4234-B761-29F58E5B25F3}"/>
              </a:ext>
            </a:extLst>
          </p:cNvPr>
          <p:cNvSpPr>
            <a:spLocks noGrp="1"/>
          </p:cNvSpPr>
          <p:nvPr>
            <p:ph idx="1"/>
          </p:nvPr>
        </p:nvSpPr>
        <p:spPr>
          <a:xfrm>
            <a:off x="1371600" y="1820411"/>
            <a:ext cx="4724400" cy="4748169"/>
          </a:xfrm>
        </p:spPr>
        <p:txBody>
          <a:bodyPr>
            <a:normAutofit/>
          </a:bodyPr>
          <a:lstStyle/>
          <a:p>
            <a:pPr marL="0" indent="0">
              <a:buNone/>
            </a:pPr>
            <a:r>
              <a:rPr lang="ru-RU" sz="1600" b="0" i="0" dirty="0">
                <a:solidFill>
                  <a:srgbClr val="202122"/>
                </a:solidFill>
                <a:effectLst/>
                <a:latin typeface="Times New Roman" panose="02020603050405020304" pitchFamily="18" charset="0"/>
                <a:cs typeface="Times New Roman" panose="02020603050405020304" pitchFamily="18" charset="0"/>
              </a:rPr>
              <a:t>В 19 веке футбол в Англии приобрёл популярность, сравнимую с крикетом. В него играли в основном в колледжах. В некоторых колледжах правила разрешали ведение и передачу мяча руками, в других это, напротив, запрещалось. Первая попытка создать единые правила была предпринята в 1846 году, когда встретились представители нескольких колледжей. Они установили первый свод правил. В 1857 году был основан первый специализированный футбольный клуб — «Шеффилд». В 1863 году после долгих переговоров был принят свод правил Футбольной Ассоциации Англии. Также были приняты размеры поля и ворот. А в 1871 году был основан Кубок Англии— старейший футбольный турнир в мире. В 1891 году было принято правило о пенальти. Но сначала пенальти билось не с точки, а с линии, которая так же, как и сейчас, находилась на расстоянии 11 метров от ворот.</a:t>
            </a:r>
            <a:endParaRPr lang="ru-RU" sz="1600" dirty="0">
              <a:latin typeface="Times New Roman" panose="02020603050405020304" pitchFamily="18" charset="0"/>
              <a:cs typeface="Times New Roman" panose="02020603050405020304" pitchFamily="18" charset="0"/>
            </a:endParaRPr>
          </a:p>
        </p:txBody>
      </p:sp>
      <p:pic>
        <p:nvPicPr>
          <p:cNvPr id="3076" name="Picture 4" descr="Британские журналисты: Моуринью не прав на счет футбола 19-го века -  Новости Футбол HD">
            <a:extLst>
              <a:ext uri="{FF2B5EF4-FFF2-40B4-BE49-F238E27FC236}">
                <a16:creationId xmlns:a16="http://schemas.microsoft.com/office/drawing/2014/main" id="{24CC5B12-22CB-4FFA-AA6A-A7FC58D56E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820411"/>
            <a:ext cx="5943600" cy="3343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1459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1ACFBD-0079-443E-B0B8-2A5D32ABF278}"/>
              </a:ext>
            </a:extLst>
          </p:cNvPr>
          <p:cNvSpPr>
            <a:spLocks noGrp="1"/>
          </p:cNvSpPr>
          <p:nvPr>
            <p:ph type="title"/>
          </p:nvPr>
        </p:nvSpPr>
        <p:spPr/>
        <p:txBody>
          <a:bodyPr>
            <a:normAutofit/>
          </a:bodyPr>
          <a:lstStyle/>
          <a:p>
            <a:pPr algn="ctr"/>
            <a:r>
              <a:rPr lang="ru-RU" sz="1800" i="0" dirty="0">
                <a:solidFill>
                  <a:srgbClr val="000000"/>
                </a:solidFill>
                <a:effectLst/>
                <a:latin typeface="Times New Roman" panose="02020603050405020304" pitchFamily="18" charset="0"/>
                <a:cs typeface="Times New Roman" panose="02020603050405020304" pitchFamily="18" charset="0"/>
              </a:rPr>
              <a:t>Начало международных соревнований</a:t>
            </a:r>
            <a:br>
              <a:rPr lang="ru-RU" b="1" i="0" dirty="0">
                <a:solidFill>
                  <a:srgbClr val="000000"/>
                </a:solidFill>
                <a:effectLst/>
                <a:latin typeface="Arial" panose="020B0604020202020204" pitchFamily="34" charset="0"/>
              </a:rPr>
            </a:br>
            <a:endParaRPr lang="ru-RU" dirty="0"/>
          </a:p>
        </p:txBody>
      </p:sp>
      <p:sp>
        <p:nvSpPr>
          <p:cNvPr id="3" name="Объект 2">
            <a:extLst>
              <a:ext uri="{FF2B5EF4-FFF2-40B4-BE49-F238E27FC236}">
                <a16:creationId xmlns:a16="http://schemas.microsoft.com/office/drawing/2014/main" id="{6844F3A6-E989-4543-89E5-BD70A3057E93}"/>
              </a:ext>
            </a:extLst>
          </p:cNvPr>
          <p:cNvSpPr>
            <a:spLocks noGrp="1"/>
          </p:cNvSpPr>
          <p:nvPr>
            <p:ph idx="1"/>
          </p:nvPr>
        </p:nvSpPr>
        <p:spPr>
          <a:xfrm>
            <a:off x="1371600" y="1661019"/>
            <a:ext cx="9601200" cy="4731391"/>
          </a:xfrm>
        </p:spPr>
        <p:txBody>
          <a:bodyPr>
            <a:normAutofit/>
          </a:bodyPr>
          <a:lstStyle/>
          <a:p>
            <a:pPr marL="0" indent="0" algn="l">
              <a:buNone/>
            </a:pPr>
            <a:r>
              <a:rPr lang="ru-RU" sz="1600" b="0" i="0" dirty="0">
                <a:solidFill>
                  <a:srgbClr val="202122"/>
                </a:solidFill>
                <a:effectLst/>
                <a:latin typeface="Times New Roman" panose="02020603050405020304" pitchFamily="18" charset="0"/>
                <a:cs typeface="Times New Roman" panose="02020603050405020304" pitchFamily="18" charset="0"/>
              </a:rPr>
              <a:t>После избрания Жюля Риме президентом ФИФА в 1921 году было ратифицировано предложение считать последующие Олимпийские футбольные турниры «чемпионатами мира по футболу среди любителей». Эти турниры — 1924 и 1928 годов — выиграла сборная Уругвая. Благодаря этим успехам у Ассоциации футбола в Уругвае не было конкурентов в борьбе за организацию первого в истории Кубка мира ФИФА (более известного в русском языке просто как </a:t>
            </a:r>
            <a:r>
              <a:rPr lang="ru-RU" sz="1600" b="0" i="1" dirty="0">
                <a:solidFill>
                  <a:srgbClr val="202122"/>
                </a:solidFill>
                <a:effectLst/>
                <a:latin typeface="Times New Roman" panose="02020603050405020304" pitchFamily="18" charset="0"/>
                <a:cs typeface="Times New Roman" panose="02020603050405020304" pitchFamily="18" charset="0"/>
              </a:rPr>
              <a:t>чемпионат мира по футболу</a:t>
            </a:r>
            <a:r>
              <a:rPr lang="ru-RU" sz="1600" b="0" i="0" dirty="0">
                <a:solidFill>
                  <a:srgbClr val="202122"/>
                </a:solidFill>
                <a:effectLst/>
                <a:latin typeface="Times New Roman" panose="02020603050405020304" pitchFamily="18" charset="0"/>
                <a:cs typeface="Times New Roman" panose="02020603050405020304" pitchFamily="18" charset="0"/>
              </a:rPr>
              <a:t>), который прошёл в 1930 году. Уругвайцы стали победителем домашнего первенства, трёхкратными чемпионами мира по футболу и первыми обладателями Кубка мира ФИФА. Это стало началом новой эры в истории футбола. До 1970 года этот трофей носил имя Жюля Риме, также был известен как «Кубок богини Нике», но после третьей победы сборной Бразилии на чемпионате мира был отдан ей на вечное хранение. Вместо него стал разыгрываться современный Кубок мира.</a:t>
            </a:r>
          </a:p>
          <a:p>
            <a:endParaRPr lang="ru-RU" dirty="0"/>
          </a:p>
        </p:txBody>
      </p:sp>
    </p:spTree>
    <p:extLst>
      <p:ext uri="{BB962C8B-B14F-4D97-AF65-F5344CB8AC3E}">
        <p14:creationId xmlns:p14="http://schemas.microsoft.com/office/powerpoint/2010/main" val="2243486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C3160C-9C87-48F5-9B42-BDC5D572ECB3}"/>
              </a:ext>
            </a:extLst>
          </p:cNvPr>
          <p:cNvSpPr>
            <a:spLocks noGrp="1"/>
          </p:cNvSpPr>
          <p:nvPr>
            <p:ph type="title"/>
          </p:nvPr>
        </p:nvSpPr>
        <p:spPr/>
        <p:txBody>
          <a:bodyPr/>
          <a:lstStyle/>
          <a:p>
            <a:pPr algn="ctr"/>
            <a:r>
              <a:rPr lang="ru-RU" sz="2000" i="0" dirty="0">
                <a:solidFill>
                  <a:srgbClr val="000000"/>
                </a:solidFill>
                <a:effectLst/>
                <a:latin typeface="Times New Roman" panose="02020603050405020304" pitchFamily="18" charset="0"/>
                <a:cs typeface="Times New Roman" panose="02020603050405020304" pitchFamily="18" charset="0"/>
              </a:rPr>
              <a:t>Разметка в футболе</a:t>
            </a:r>
            <a:br>
              <a:rPr lang="ru-RU" b="1" i="0" dirty="0">
                <a:solidFill>
                  <a:srgbClr val="000000"/>
                </a:solidFill>
                <a:effectLst/>
                <a:latin typeface="Arial" panose="020B0604020202020204" pitchFamily="34" charset="0"/>
              </a:rPr>
            </a:br>
            <a:r>
              <a:rPr lang="ru-RU" b="1" i="0" dirty="0">
                <a:solidFill>
                  <a:srgbClr val="000000"/>
                </a:solidFill>
                <a:effectLst/>
                <a:latin typeface="Arial" panose="020B0604020202020204" pitchFamily="34" charset="0"/>
              </a:rPr>
              <a:t> </a:t>
            </a:r>
            <a:endParaRPr lang="ru-RU" dirty="0"/>
          </a:p>
        </p:txBody>
      </p:sp>
      <p:sp>
        <p:nvSpPr>
          <p:cNvPr id="3" name="Объект 2">
            <a:extLst>
              <a:ext uri="{FF2B5EF4-FFF2-40B4-BE49-F238E27FC236}">
                <a16:creationId xmlns:a16="http://schemas.microsoft.com/office/drawing/2014/main" id="{2074DA89-855F-4AF0-9868-E052DE02B081}"/>
              </a:ext>
            </a:extLst>
          </p:cNvPr>
          <p:cNvSpPr>
            <a:spLocks noGrp="1"/>
          </p:cNvSpPr>
          <p:nvPr>
            <p:ph idx="1"/>
          </p:nvPr>
        </p:nvSpPr>
        <p:spPr>
          <a:xfrm>
            <a:off x="1371600" y="1283516"/>
            <a:ext cx="9601200" cy="4583884"/>
          </a:xfrm>
        </p:spPr>
        <p:txBody>
          <a:bodyPr>
            <a:normAutofit fontScale="70000" lnSpcReduction="20000"/>
          </a:bodyPr>
          <a:lstStyle/>
          <a:p>
            <a:pPr marL="0" indent="0" algn="l">
              <a:buNone/>
            </a:pPr>
            <a:r>
              <a:rPr lang="ru-RU" b="0" i="0" dirty="0">
                <a:solidFill>
                  <a:srgbClr val="202122"/>
                </a:solidFill>
                <a:effectLst/>
                <a:latin typeface="Arial" panose="020B0604020202020204" pitchFamily="34" charset="0"/>
              </a:rPr>
              <a:t>Разметка поля делается линиями шириной не более 12 см (5 дюймов); эти линии входят в площади, которые они ограничивают. Все линии должны быть одинаковой ширины.</a:t>
            </a:r>
          </a:p>
          <a:p>
            <a:pPr marL="0" indent="0" algn="l">
              <a:buNone/>
            </a:pPr>
            <a:r>
              <a:rPr lang="ru-RU" b="0" i="0" dirty="0">
                <a:solidFill>
                  <a:srgbClr val="202122"/>
                </a:solidFill>
                <a:effectLst/>
                <a:latin typeface="Arial" panose="020B0604020202020204" pitchFamily="34" charset="0"/>
              </a:rPr>
              <a:t>Название линий поля: Две длинные линии, ограничивающие поле для игры, называются </a:t>
            </a:r>
            <a:r>
              <a:rPr lang="ru-RU" b="0" i="1" dirty="0">
                <a:solidFill>
                  <a:srgbClr val="202122"/>
                </a:solidFill>
                <a:effectLst/>
                <a:latin typeface="Arial" panose="020B0604020202020204" pitchFamily="34" charset="0"/>
              </a:rPr>
              <a:t>боковыми линиями</a:t>
            </a:r>
            <a:r>
              <a:rPr lang="ru-RU" b="0" i="0" dirty="0">
                <a:solidFill>
                  <a:srgbClr val="202122"/>
                </a:solidFill>
                <a:effectLst/>
                <a:latin typeface="Arial" panose="020B0604020202020204" pitchFamily="34" charset="0"/>
              </a:rPr>
              <a:t>; две короткие линии — </a:t>
            </a:r>
            <a:r>
              <a:rPr lang="ru-RU" b="0" i="1" dirty="0">
                <a:solidFill>
                  <a:srgbClr val="202122"/>
                </a:solidFill>
                <a:effectLst/>
                <a:latin typeface="Arial" panose="020B0604020202020204" pitchFamily="34" charset="0"/>
              </a:rPr>
              <a:t>лицевыми линиями</a:t>
            </a:r>
            <a:r>
              <a:rPr lang="ru-RU" b="0" i="0" dirty="0">
                <a:solidFill>
                  <a:srgbClr val="202122"/>
                </a:solidFill>
                <a:effectLst/>
                <a:latin typeface="Arial" panose="020B0604020202020204" pitchFamily="34" charset="0"/>
              </a:rPr>
              <a:t> или </a:t>
            </a:r>
            <a:r>
              <a:rPr lang="ru-RU" b="0" i="1" dirty="0">
                <a:solidFill>
                  <a:srgbClr val="202122"/>
                </a:solidFill>
                <a:effectLst/>
                <a:latin typeface="Arial" panose="020B0604020202020204" pitchFamily="34" charset="0"/>
              </a:rPr>
              <a:t>линиями ворот</a:t>
            </a:r>
            <a:r>
              <a:rPr lang="ru-RU" b="0" i="0" dirty="0">
                <a:solidFill>
                  <a:srgbClr val="202122"/>
                </a:solidFill>
                <a:effectLst/>
                <a:latin typeface="Arial" panose="020B0604020202020204" pitchFamily="34" charset="0"/>
              </a:rPr>
              <a:t>, так как на них располагаются ворота.</a:t>
            </a:r>
          </a:p>
          <a:p>
            <a:pPr marL="0" indent="0" algn="l">
              <a:buNone/>
            </a:pPr>
            <a:r>
              <a:rPr lang="ru-RU" b="0" i="0" dirty="0">
                <a:solidFill>
                  <a:srgbClr val="202122"/>
                </a:solidFill>
                <a:effectLst/>
                <a:latin typeface="Arial" panose="020B0604020202020204" pitchFamily="34" charset="0"/>
              </a:rPr>
              <a:t>Средняя линия: Поле делится на две половины с помощью </a:t>
            </a:r>
            <a:r>
              <a:rPr lang="ru-RU" b="0" i="1" dirty="0">
                <a:solidFill>
                  <a:srgbClr val="202122"/>
                </a:solidFill>
                <a:effectLst/>
                <a:latin typeface="Arial" panose="020B0604020202020204" pitchFamily="34" charset="0"/>
              </a:rPr>
              <a:t>средней линии</a:t>
            </a:r>
            <a:r>
              <a:rPr lang="ru-RU" b="0" i="0" dirty="0">
                <a:solidFill>
                  <a:srgbClr val="202122"/>
                </a:solidFill>
                <a:effectLst/>
                <a:latin typeface="Arial" panose="020B0604020202020204" pitchFamily="34" charset="0"/>
              </a:rPr>
              <a:t>, соединяющей середины боковых линий. Посередине средней линии делается отметка </a:t>
            </a:r>
            <a:r>
              <a:rPr lang="ru-RU" b="0" i="1" dirty="0">
                <a:solidFill>
                  <a:srgbClr val="202122"/>
                </a:solidFill>
                <a:effectLst/>
                <a:latin typeface="Arial" panose="020B0604020202020204" pitchFamily="34" charset="0"/>
              </a:rPr>
              <a:t>центра поля</a:t>
            </a:r>
            <a:r>
              <a:rPr lang="ru-RU" b="0" i="0" dirty="0">
                <a:solidFill>
                  <a:srgbClr val="202122"/>
                </a:solidFill>
                <a:effectLst/>
                <a:latin typeface="Arial" panose="020B0604020202020204" pitchFamily="34" charset="0"/>
              </a:rPr>
              <a:t> — сплошной круг диаметром 0,3 м (1 фут). Вокруг центра поля проводится окружность радиусом 9,15 м (10 ярдов). С отметки центра поля в начале каждого из таймов основного и дополнительного времени, а также после каждого забитого гола, выполняется начальный удар. При исполнении начального удара все игроки должны находиться на своих половинах поля, а соперники выполняющей удар команды — и за пределами центрального круга.</a:t>
            </a:r>
          </a:p>
          <a:p>
            <a:pPr marL="0" indent="0" algn="l">
              <a:buNone/>
            </a:pPr>
            <a:r>
              <a:rPr lang="ru-RU" b="0" i="0" dirty="0">
                <a:solidFill>
                  <a:srgbClr val="202122"/>
                </a:solidFill>
                <a:effectLst/>
                <a:latin typeface="Arial" panose="020B0604020202020204" pitchFamily="34" charset="0"/>
              </a:rPr>
              <a:t>Штрафная площадь: на каждой половине поля размечается штрафная площадь— зона, в которой вратарь может играть руками, а в ворота команды, совершившей в своей штрафной площади нарушение, наказуемое штрафным ударом, будет назначен 11-метровый удар. Размеры штрафной площади — 40,32 м (44 ярда) на 16,5 м (18 ярдов). В пределах штрафной площади, по центру линии ворот и на расстоянии 11 м (12 ярдов) от неё, наносится </a:t>
            </a:r>
            <a:r>
              <a:rPr lang="ru-RU" b="0" i="1" dirty="0">
                <a:solidFill>
                  <a:srgbClr val="202122"/>
                </a:solidFill>
                <a:effectLst/>
                <a:latin typeface="Arial" panose="020B0604020202020204" pitchFamily="34" charset="0"/>
              </a:rPr>
              <a:t>одиннадцатиметровая отметка</a:t>
            </a:r>
            <a:r>
              <a:rPr lang="ru-RU" b="0" i="0" dirty="0">
                <a:solidFill>
                  <a:srgbClr val="202122"/>
                </a:solidFill>
                <a:effectLst/>
                <a:latin typeface="Arial" panose="020B0604020202020204" pitchFamily="34" charset="0"/>
              </a:rPr>
              <a:t> — сплошной круг диаметром 0,3 м (1 фут). За пределами штрафной площади проводится дуга окружности радиусом 9,15 м (10 ярдов), центр которой находится на одиннадцатиметровой отметке; данная дуга используется для расположения игроков команд при пробитии одиннадцатиметрового удара.</a:t>
            </a:r>
            <a:r>
              <a:rPr lang="ru-RU" b="0" i="0" u="none" strike="noStrike" baseline="30000" dirty="0">
                <a:solidFill>
                  <a:srgbClr val="0645AD"/>
                </a:solidFill>
                <a:effectLst/>
                <a:latin typeface="Arial" panose="020B0604020202020204" pitchFamily="34" charset="0"/>
                <a:hlinkClick r:id="rId2"/>
              </a:rPr>
              <a:t>[</a:t>
            </a:r>
            <a:r>
              <a:rPr lang="ru-RU" b="0" i="0" dirty="0">
                <a:solidFill>
                  <a:srgbClr val="202122"/>
                </a:solidFill>
                <a:effectLst/>
                <a:latin typeface="Arial" panose="020B0604020202020204" pitchFamily="34" charset="0"/>
              </a:rPr>
              <a:t>Площадь ворот: на каждой половине поля размечается </a:t>
            </a:r>
            <a:r>
              <a:rPr lang="ru-RU" b="0" i="1" dirty="0">
                <a:solidFill>
                  <a:srgbClr val="202122"/>
                </a:solidFill>
                <a:effectLst/>
                <a:latin typeface="Arial" panose="020B0604020202020204" pitchFamily="34" charset="0"/>
              </a:rPr>
              <a:t>площадь ворот</a:t>
            </a:r>
            <a:r>
              <a:rPr lang="ru-RU" b="0" i="0" dirty="0">
                <a:solidFill>
                  <a:srgbClr val="202122"/>
                </a:solidFill>
                <a:effectLst/>
                <a:latin typeface="Arial" panose="020B0604020202020204" pitchFamily="34" charset="0"/>
              </a:rPr>
              <a:t> — зона, из пределов которой выполняется удар от ворот; размеры площади ворот — 18,32 м (20 ярдов) на 5,5 м (6 ярдов).</a:t>
            </a:r>
          </a:p>
          <a:p>
            <a:pPr marL="0" indent="0" algn="l">
              <a:buNone/>
            </a:pPr>
            <a:r>
              <a:rPr lang="ru-RU" b="0" i="0" dirty="0">
                <a:solidFill>
                  <a:srgbClr val="202122"/>
                </a:solidFill>
                <a:effectLst/>
                <a:latin typeface="Arial" panose="020B0604020202020204" pitchFamily="34" charset="0"/>
              </a:rPr>
              <a:t>Угловые сектора: в каждом из четырёх углов поля проводится дуга радиусом 1 м (или 1 ярд) с центром в углу поля, ограничивающая сектор для исполнения угловых ударов. Также у каждого угла поля обязательно ставятся флаги на флагштоках, не имеющих сверху заострений.</a:t>
            </a:r>
          </a:p>
          <a:p>
            <a:endParaRPr lang="ru-RU" dirty="0"/>
          </a:p>
        </p:txBody>
      </p:sp>
    </p:spTree>
    <p:extLst>
      <p:ext uri="{BB962C8B-B14F-4D97-AF65-F5344CB8AC3E}">
        <p14:creationId xmlns:p14="http://schemas.microsoft.com/office/powerpoint/2010/main" val="2774722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317DDD-694C-4259-AFA6-BBFAE4378340}"/>
              </a:ext>
            </a:extLst>
          </p:cNvPr>
          <p:cNvSpPr>
            <a:spLocks noGrp="1"/>
          </p:cNvSpPr>
          <p:nvPr>
            <p:ph type="title"/>
          </p:nvPr>
        </p:nvSpPr>
        <p:spPr>
          <a:xfrm>
            <a:off x="1371600" y="209725"/>
            <a:ext cx="9601200" cy="855677"/>
          </a:xfrm>
        </p:spPr>
        <p:txBody>
          <a:bodyPr>
            <a:normAutofit/>
          </a:bodyPr>
          <a:lstStyle/>
          <a:p>
            <a:pPr algn="ctr"/>
            <a:r>
              <a:rPr lang="ru-RU" sz="2000" dirty="0">
                <a:latin typeface="Times New Roman" panose="02020603050405020304" pitchFamily="18" charset="0"/>
                <a:cs typeface="Times New Roman" panose="02020603050405020304" pitchFamily="18" charset="0"/>
              </a:rPr>
              <a:t>Футбол в России</a:t>
            </a:r>
          </a:p>
        </p:txBody>
      </p:sp>
      <p:sp>
        <p:nvSpPr>
          <p:cNvPr id="3" name="Объект 2">
            <a:extLst>
              <a:ext uri="{FF2B5EF4-FFF2-40B4-BE49-F238E27FC236}">
                <a16:creationId xmlns:a16="http://schemas.microsoft.com/office/drawing/2014/main" id="{00F95B28-D47A-47D7-B89E-FE6041D91EFE}"/>
              </a:ext>
            </a:extLst>
          </p:cNvPr>
          <p:cNvSpPr>
            <a:spLocks noGrp="1"/>
          </p:cNvSpPr>
          <p:nvPr>
            <p:ph idx="1"/>
          </p:nvPr>
        </p:nvSpPr>
        <p:spPr>
          <a:xfrm>
            <a:off x="1656826" y="1291905"/>
            <a:ext cx="4827863" cy="4621786"/>
          </a:xfrm>
        </p:spPr>
        <p:txBody>
          <a:bodyPr>
            <a:normAutofit fontScale="70000" lnSpcReduction="20000"/>
          </a:bodyPr>
          <a:lstStyle/>
          <a:p>
            <a:pPr marL="0" indent="0" algn="l" fontAlgn="base">
              <a:buNone/>
            </a:pPr>
            <a:r>
              <a:rPr lang="ru-RU" b="0" i="0" dirty="0">
                <a:solidFill>
                  <a:srgbClr val="001719"/>
                </a:solidFill>
                <a:effectLst/>
                <a:latin typeface="Montserrat" panose="00000500000000000000" pitchFamily="2" charset="-52"/>
              </a:rPr>
              <a:t>Футбол появился в России в 1880 году, благодаря иностранным морякам и рабочим, трудившимся на наших заводах. Игра буквально заразила страну и стала одним из самых популярных видов спорта.</a:t>
            </a:r>
          </a:p>
          <a:p>
            <a:pPr marL="0" indent="0" algn="l" fontAlgn="base">
              <a:buNone/>
            </a:pPr>
            <a:r>
              <a:rPr lang="ru-RU" b="0" i="0" dirty="0">
                <a:solidFill>
                  <a:srgbClr val="001719"/>
                </a:solidFill>
                <a:effectLst/>
                <a:latin typeface="Montserrat" panose="00000500000000000000" pitchFamily="2" charset="-52"/>
              </a:rPr>
              <a:t>Считается, что первый футбольный матч состоялся в 1897 году. Сражались команды «Спорт» и «Василеостровское сообщество футболистов». Сообщество тогда победило с разгромным счетом 6:0. Это была в прямом смысле игра без правил. Все, что требовалось – забить мяч в сетку противника, однако, именно этот матч и дал толчок к зарождению российского футбола.</a:t>
            </a:r>
          </a:p>
          <a:p>
            <a:pPr marL="0" indent="0" algn="l" fontAlgn="base">
              <a:buNone/>
            </a:pPr>
            <a:r>
              <a:rPr lang="ru-RU" b="0" i="0" dirty="0">
                <a:solidFill>
                  <a:srgbClr val="001719"/>
                </a:solidFill>
                <a:effectLst/>
                <a:latin typeface="Montserrat" panose="00000500000000000000" pitchFamily="2" charset="-52"/>
              </a:rPr>
              <a:t>Первая футбольная лига была создана в 1901 году, а в 1911 образовался «Всероссийский футбольный союз». После, игра стремительно развивалась. Даже Вторая мировая война не смогла существенно повлиять на становление футбола в СССР и в 1952 году наши футболисты впервые приняли участие в Олимпийских играх в Хельсинки. Сейчас сборная России входит в пятерку сильнейших в мире.</a:t>
            </a:r>
          </a:p>
          <a:p>
            <a:endParaRPr lang="ru-RU" dirty="0"/>
          </a:p>
        </p:txBody>
      </p:sp>
      <p:pic>
        <p:nvPicPr>
          <p:cNvPr id="1030" name="Picture 6" descr="Футбол в России проигрывает скандалам - Чемпионат">
            <a:extLst>
              <a:ext uri="{FF2B5EF4-FFF2-40B4-BE49-F238E27FC236}">
                <a16:creationId xmlns:a16="http://schemas.microsoft.com/office/drawing/2014/main" id="{F962D40A-7D5E-43A3-84F9-AD7B44F0DE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5692" y="1291905"/>
            <a:ext cx="5356324" cy="4017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126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1412AE-1535-47B8-B0BA-5CEF8018A243}"/>
              </a:ext>
            </a:extLst>
          </p:cNvPr>
          <p:cNvSpPr>
            <a:spLocks noGrp="1"/>
          </p:cNvSpPr>
          <p:nvPr>
            <p:ph type="title"/>
          </p:nvPr>
        </p:nvSpPr>
        <p:spPr>
          <a:xfrm>
            <a:off x="1371600" y="293615"/>
            <a:ext cx="9601200" cy="696985"/>
          </a:xfrm>
        </p:spPr>
        <p:txBody>
          <a:bodyPr>
            <a:normAutofit/>
          </a:bodyPr>
          <a:lstStyle/>
          <a:p>
            <a:pPr algn="ctr"/>
            <a:r>
              <a:rPr lang="ru-RU" sz="2000" dirty="0">
                <a:latin typeface="Times New Roman" panose="02020603050405020304" pitchFamily="18" charset="0"/>
                <a:cs typeface="Times New Roman" panose="02020603050405020304" pitchFamily="18" charset="0"/>
              </a:rPr>
              <a:t>Вне игры</a:t>
            </a:r>
          </a:p>
        </p:txBody>
      </p:sp>
      <p:sp>
        <p:nvSpPr>
          <p:cNvPr id="3" name="Объект 2">
            <a:extLst>
              <a:ext uri="{FF2B5EF4-FFF2-40B4-BE49-F238E27FC236}">
                <a16:creationId xmlns:a16="http://schemas.microsoft.com/office/drawing/2014/main" id="{A3E8FDF8-29C1-4EEB-A02C-0DC5AA165CBC}"/>
              </a:ext>
            </a:extLst>
          </p:cNvPr>
          <p:cNvSpPr>
            <a:spLocks noGrp="1"/>
          </p:cNvSpPr>
          <p:nvPr>
            <p:ph idx="1"/>
          </p:nvPr>
        </p:nvSpPr>
        <p:spPr>
          <a:xfrm>
            <a:off x="1371600" y="1476462"/>
            <a:ext cx="9601200" cy="4390938"/>
          </a:xfrm>
        </p:spPr>
        <p:txBody>
          <a:bodyPr/>
          <a:lstStyle/>
          <a:p>
            <a:pPr marL="0" indent="0">
              <a:buNone/>
            </a:pPr>
            <a:r>
              <a:rPr lang="ru-RU" b="0" i="0" dirty="0">
                <a:solidFill>
                  <a:srgbClr val="303549"/>
                </a:solidFill>
                <a:effectLst/>
                <a:latin typeface="IBM Plex Sans" panose="020B0503050203000203" pitchFamily="34" charset="0"/>
              </a:rPr>
              <a:t>Считается, что игрок находится в положении «вне игры» или в офсайде, если он находится ближе к линии ворот соперника, чем мяч и </a:t>
            </a:r>
            <a:r>
              <a:rPr lang="ru-RU" b="0" i="0" dirty="0" err="1">
                <a:solidFill>
                  <a:srgbClr val="303549"/>
                </a:solidFill>
                <a:effectLst/>
                <a:latin typeface="IBM Plex Sans" panose="020B0503050203000203" pitchFamily="34" charset="0"/>
              </a:rPr>
              <a:t>предп</a:t>
            </a:r>
            <a:endParaRPr lang="ru-RU" b="0" i="0" dirty="0">
              <a:solidFill>
                <a:srgbClr val="303549"/>
              </a:solidFill>
              <a:effectLst/>
              <a:latin typeface="IBM Plex Sans" panose="020B0503050203000203" pitchFamily="34" charset="0"/>
            </a:endParaRPr>
          </a:p>
          <a:p>
            <a:pPr marL="0" indent="0">
              <a:buNone/>
            </a:pPr>
            <a:r>
              <a:rPr lang="ru-RU" b="0" i="0" dirty="0">
                <a:solidFill>
                  <a:srgbClr val="303549"/>
                </a:solidFill>
                <a:effectLst/>
                <a:latin typeface="IBM Plex Sans" panose="020B0503050203000203" pitchFamily="34" charset="0"/>
              </a:rPr>
              <a:t>Для того чтобы не оказаться в офсайде, игрокам необходимо придерживаться следующих правил: запрещается вмешиваться в игру (касание мяча, который ему передали или который коснулся партнёра по команде); запрещается мешать сопернику; запрещается получать преимущество благодаря своей позиции (касание мяча, который отскакивает от стойки или перекладины ворот или от соперника). Последний игрок соперника, включая вратаря. </a:t>
            </a:r>
            <a:endParaRPr lang="ru-RU" dirty="0"/>
          </a:p>
        </p:txBody>
      </p:sp>
    </p:spTree>
    <p:extLst>
      <p:ext uri="{BB962C8B-B14F-4D97-AF65-F5344CB8AC3E}">
        <p14:creationId xmlns:p14="http://schemas.microsoft.com/office/powerpoint/2010/main" val="2400311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C95055-A478-458A-AE9C-9830B5AED178}"/>
              </a:ext>
            </a:extLst>
          </p:cNvPr>
          <p:cNvSpPr>
            <a:spLocks noGrp="1"/>
          </p:cNvSpPr>
          <p:nvPr>
            <p:ph type="title"/>
          </p:nvPr>
        </p:nvSpPr>
        <p:spPr>
          <a:xfrm>
            <a:off x="1371600" y="685800"/>
            <a:ext cx="9601200" cy="572549"/>
          </a:xfrm>
        </p:spPr>
        <p:txBody>
          <a:bodyPr>
            <a:normAutofit/>
          </a:bodyPr>
          <a:lstStyle/>
          <a:p>
            <a:pPr algn="ctr"/>
            <a:r>
              <a:rPr lang="ru-RU" sz="2000" dirty="0">
                <a:latin typeface="Times New Roman" panose="02020603050405020304" pitchFamily="18" charset="0"/>
                <a:cs typeface="Times New Roman" panose="02020603050405020304" pitchFamily="18" charset="0"/>
              </a:rPr>
              <a:t>Размеры поля</a:t>
            </a:r>
          </a:p>
        </p:txBody>
      </p:sp>
      <p:pic>
        <p:nvPicPr>
          <p:cNvPr id="2050" name="Picture 2">
            <a:extLst>
              <a:ext uri="{FF2B5EF4-FFF2-40B4-BE49-F238E27FC236}">
                <a16:creationId xmlns:a16="http://schemas.microsoft.com/office/drawing/2014/main" id="{922BFC9F-4775-4669-9755-CD6A7D199E3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97248" y="1803633"/>
            <a:ext cx="8481269" cy="4597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76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DF3D2B-1075-4489-BB80-845C30CCFDDF}"/>
              </a:ext>
            </a:extLst>
          </p:cNvPr>
          <p:cNvSpPr>
            <a:spLocks noGrp="1"/>
          </p:cNvSpPr>
          <p:nvPr>
            <p:ph type="title"/>
          </p:nvPr>
        </p:nvSpPr>
        <p:spPr/>
        <p:txBody>
          <a:bodyPr>
            <a:normAutofit/>
          </a:bodyPr>
          <a:lstStyle/>
          <a:p>
            <a:pPr algn="ctr"/>
            <a:r>
              <a:rPr lang="ru-RU" sz="2000" dirty="0">
                <a:latin typeface="Times New Roman" panose="02020603050405020304" pitchFamily="18" charset="0"/>
                <a:cs typeface="Times New Roman" panose="02020603050405020304" pitchFamily="18" charset="0"/>
              </a:rPr>
              <a:t>Ворота</a:t>
            </a:r>
          </a:p>
        </p:txBody>
      </p:sp>
      <p:sp>
        <p:nvSpPr>
          <p:cNvPr id="3" name="Объект 2">
            <a:extLst>
              <a:ext uri="{FF2B5EF4-FFF2-40B4-BE49-F238E27FC236}">
                <a16:creationId xmlns:a16="http://schemas.microsoft.com/office/drawing/2014/main" id="{233370B4-4732-4AEC-B0BC-C41AAAC2B9D0}"/>
              </a:ext>
            </a:extLst>
          </p:cNvPr>
          <p:cNvSpPr>
            <a:spLocks noGrp="1"/>
          </p:cNvSpPr>
          <p:nvPr>
            <p:ph idx="1"/>
          </p:nvPr>
        </p:nvSpPr>
        <p:spPr/>
        <p:txBody>
          <a:bodyPr>
            <a:normAutofit/>
          </a:bodyPr>
          <a:lstStyle/>
          <a:p>
            <a:pPr marL="0" indent="0">
              <a:buNone/>
            </a:pPr>
            <a:r>
              <a:rPr lang="ru-RU" b="0" i="0" dirty="0">
                <a:solidFill>
                  <a:srgbClr val="303549"/>
                </a:solidFill>
                <a:effectLst/>
                <a:latin typeface="IBM Plex Sans" panose="020B0503050203000203" pitchFamily="34" charset="0"/>
              </a:rPr>
              <a:t>Ворота располагаются точно посередине линии ворот. Стандартный размер ворот в футболе следующий: длина или ширина ворот в большом футболе – расстояние между вертикальными стойками (штангами) – 7,73 метра; высота ворот – расстояние от газона до перекладины – 2,44 метра. Диаметр стоек и перекладины не должен превышать 12 сантиметров. Ворота изготавливаются из дерева или металла и выкрашены в белый цвет, а также имеют в поперечном сечении форму прямоугольника, эллипса, квадрата и клетка для ворот в футболе должна соответствовать размерам ворот и должна быть прочной. Принято использовать футбольные сетки следующего размера  2,50 х 7,50 х 1,00 х 2,00 м. и круга.</a:t>
            </a:r>
            <a:endParaRPr lang="ru-RU" dirty="0"/>
          </a:p>
        </p:txBody>
      </p:sp>
    </p:spTree>
    <p:extLst>
      <p:ext uri="{BB962C8B-B14F-4D97-AF65-F5344CB8AC3E}">
        <p14:creationId xmlns:p14="http://schemas.microsoft.com/office/powerpoint/2010/main" val="36668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8EA1D6-8036-4F24-AC24-B7A06EC7F345}"/>
              </a:ext>
            </a:extLst>
          </p:cNvPr>
          <p:cNvSpPr>
            <a:spLocks noGrp="1"/>
          </p:cNvSpPr>
          <p:nvPr>
            <p:ph type="title"/>
          </p:nvPr>
        </p:nvSpPr>
        <p:spPr>
          <a:xfrm>
            <a:off x="1371600" y="685800"/>
            <a:ext cx="9601200" cy="497048"/>
          </a:xfrm>
        </p:spPr>
        <p:txBody>
          <a:bodyPr>
            <a:normAutofit/>
          </a:bodyPr>
          <a:lstStyle/>
          <a:p>
            <a:pPr algn="ctr"/>
            <a:r>
              <a:rPr lang="ru-RU" sz="2000" dirty="0">
                <a:latin typeface="Times New Roman" panose="02020603050405020304" pitchFamily="18" charset="0"/>
                <a:cs typeface="Times New Roman" panose="02020603050405020304" pitchFamily="18" charset="0"/>
              </a:rPr>
              <a:t>Футбольные структуры</a:t>
            </a:r>
          </a:p>
        </p:txBody>
      </p:sp>
      <p:sp>
        <p:nvSpPr>
          <p:cNvPr id="3" name="Объект 2">
            <a:extLst>
              <a:ext uri="{FF2B5EF4-FFF2-40B4-BE49-F238E27FC236}">
                <a16:creationId xmlns:a16="http://schemas.microsoft.com/office/drawing/2014/main" id="{E4DD9E73-A5BA-4039-9253-8319F0A79891}"/>
              </a:ext>
            </a:extLst>
          </p:cNvPr>
          <p:cNvSpPr>
            <a:spLocks noGrp="1"/>
          </p:cNvSpPr>
          <p:nvPr>
            <p:ph idx="1"/>
          </p:nvPr>
        </p:nvSpPr>
        <p:spPr>
          <a:xfrm>
            <a:off x="1371600" y="1417739"/>
            <a:ext cx="9601200" cy="4449661"/>
          </a:xfrm>
        </p:spPr>
        <p:txBody>
          <a:bodyPr>
            <a:normAutofit/>
          </a:bodyPr>
          <a:lstStyle/>
          <a:p>
            <a:pPr marL="0" indent="0">
              <a:buNone/>
            </a:pPr>
            <a:r>
              <a:rPr lang="ru-RU" b="0" i="0" dirty="0">
                <a:solidFill>
                  <a:srgbClr val="303549"/>
                </a:solidFill>
                <a:effectLst/>
                <a:latin typeface="IBM Plex Sans" panose="020B0503050203000203" pitchFamily="34" charset="0"/>
              </a:rPr>
              <a:t>Футбольные структуры Основной футбольной структурой является FIFA (</a:t>
            </a:r>
            <a:r>
              <a:rPr lang="ru-RU" b="0" i="0" dirty="0" err="1">
                <a:solidFill>
                  <a:srgbClr val="303549"/>
                </a:solidFill>
                <a:effectLst/>
                <a:latin typeface="IBM Plex Sans" panose="020B0503050203000203" pitchFamily="34" charset="0"/>
              </a:rPr>
              <a:t>Fédération</a:t>
            </a:r>
            <a:r>
              <a:rPr lang="ru-RU" b="0" i="0" dirty="0">
                <a:solidFill>
                  <a:srgbClr val="303549"/>
                </a:solidFill>
                <a:effectLst/>
                <a:latin typeface="IBM Plex Sans" panose="020B0503050203000203" pitchFamily="34" charset="0"/>
              </a:rPr>
              <a:t> </a:t>
            </a:r>
            <a:r>
              <a:rPr lang="ru-RU" b="0" i="0" dirty="0" err="1">
                <a:solidFill>
                  <a:srgbClr val="303549"/>
                </a:solidFill>
                <a:effectLst/>
                <a:latin typeface="IBM Plex Sans" panose="020B0503050203000203" pitchFamily="34" charset="0"/>
              </a:rPr>
              <a:t>internationale</a:t>
            </a:r>
            <a:r>
              <a:rPr lang="ru-RU" b="0" i="0" dirty="0">
                <a:solidFill>
                  <a:srgbClr val="303549"/>
                </a:solidFill>
                <a:effectLst/>
                <a:latin typeface="IBM Plex Sans" panose="020B0503050203000203" pitchFamily="34" charset="0"/>
              </a:rPr>
              <a:t> </a:t>
            </a:r>
            <a:r>
              <a:rPr lang="ru-RU" b="0" i="0" dirty="0" err="1">
                <a:solidFill>
                  <a:srgbClr val="303549"/>
                </a:solidFill>
                <a:effectLst/>
                <a:latin typeface="IBM Plex Sans" panose="020B0503050203000203" pitchFamily="34" charset="0"/>
              </a:rPr>
              <a:t>de</a:t>
            </a:r>
            <a:r>
              <a:rPr lang="ru-RU" b="0" i="0" dirty="0">
                <a:solidFill>
                  <a:srgbClr val="303549"/>
                </a:solidFill>
                <a:effectLst/>
                <a:latin typeface="IBM Plex Sans" panose="020B0503050203000203" pitchFamily="34" charset="0"/>
              </a:rPr>
              <a:t> </a:t>
            </a:r>
            <a:r>
              <a:rPr lang="ru-RU" b="0" i="0" dirty="0" err="1">
                <a:solidFill>
                  <a:srgbClr val="303549"/>
                </a:solidFill>
                <a:effectLst/>
                <a:latin typeface="IBM Plex Sans" panose="020B0503050203000203" pitchFamily="34" charset="0"/>
              </a:rPr>
              <a:t>football</a:t>
            </a:r>
            <a:r>
              <a:rPr lang="ru-RU" b="0" i="0" dirty="0">
                <a:solidFill>
                  <a:srgbClr val="303549"/>
                </a:solidFill>
                <a:effectLst/>
                <a:latin typeface="IBM Plex Sans" panose="020B0503050203000203" pitchFamily="34" charset="0"/>
              </a:rPr>
              <a:t> </a:t>
            </a:r>
            <a:r>
              <a:rPr lang="ru-RU" b="0" i="0" dirty="0" err="1">
                <a:solidFill>
                  <a:srgbClr val="303549"/>
                </a:solidFill>
                <a:effectLst/>
                <a:latin typeface="IBM Plex Sans" panose="020B0503050203000203" pitchFamily="34" charset="0"/>
              </a:rPr>
              <a:t>association</a:t>
            </a:r>
            <a:r>
              <a:rPr lang="ru-RU" b="0" i="0" dirty="0">
                <a:solidFill>
                  <a:srgbClr val="303549"/>
                </a:solidFill>
                <a:effectLst/>
                <a:latin typeface="IBM Plex Sans" panose="020B0503050203000203" pitchFamily="34" charset="0"/>
              </a:rPr>
              <a:t>), расположенная в Цюрихе, Швейцария. Она занимается организацией международных турниров мирового масштаба. Континентальные организации: </a:t>
            </a:r>
            <a:r>
              <a:rPr lang="en-US" b="0" i="0" dirty="0">
                <a:solidFill>
                  <a:srgbClr val="303549"/>
                </a:solidFill>
                <a:effectLst/>
                <a:latin typeface="IBM Plex Sans" panose="020B0503050203000203" pitchFamily="34" charset="0"/>
              </a:rPr>
              <a:t>CONCACAF (</a:t>
            </a:r>
            <a:r>
              <a:rPr lang="ru-RU" b="0" i="0" dirty="0">
                <a:solidFill>
                  <a:srgbClr val="303549"/>
                </a:solidFill>
                <a:effectLst/>
                <a:latin typeface="IBM Plex Sans" panose="020B0503050203000203" pitchFamily="34" charset="0"/>
              </a:rPr>
              <a:t>СО</a:t>
            </a:r>
            <a:r>
              <a:rPr lang="en-US" b="0" i="0" dirty="0" err="1">
                <a:solidFill>
                  <a:srgbClr val="303549"/>
                </a:solidFill>
                <a:effectLst/>
                <a:latin typeface="IBM Plex Sans" panose="020B0503050203000203" pitchFamily="34" charset="0"/>
              </a:rPr>
              <a:t>nfederation</a:t>
            </a:r>
            <a:r>
              <a:rPr lang="en-US" b="0" i="0" dirty="0">
                <a:solidFill>
                  <a:srgbClr val="303549"/>
                </a:solidFill>
                <a:effectLst/>
                <a:latin typeface="IBM Plex Sans" panose="020B0503050203000203" pitchFamily="34" charset="0"/>
              </a:rPr>
              <a:t> of North, Central American and Caribbean Association Football) – </a:t>
            </a:r>
            <a:r>
              <a:rPr lang="ru-RU" b="0" i="0" dirty="0">
                <a:solidFill>
                  <a:srgbClr val="303549"/>
                </a:solidFill>
                <a:effectLst/>
                <a:latin typeface="IBM Plex Sans" panose="020B0503050203000203" pitchFamily="34" charset="0"/>
              </a:rPr>
              <a:t>конфедерация футбола Северной и Центральной Америки и стран Карибского бассейна , </a:t>
            </a:r>
            <a:r>
              <a:rPr lang="en-US" b="0" i="0" dirty="0">
                <a:solidFill>
                  <a:srgbClr val="303549"/>
                </a:solidFill>
                <a:effectLst/>
                <a:latin typeface="IBM Plex Sans" panose="020B0503050203000203" pitchFamily="34" charset="0"/>
              </a:rPr>
              <a:t>CONMEFBOL (</a:t>
            </a:r>
            <a:r>
              <a:rPr lang="en-US" b="0" i="0" dirty="0" err="1">
                <a:solidFill>
                  <a:srgbClr val="303549"/>
                </a:solidFill>
                <a:effectLst/>
                <a:latin typeface="IBM Plex Sans" panose="020B0503050203000203" pitchFamily="34" charset="0"/>
              </a:rPr>
              <a:t>CONfederacion</a:t>
            </a:r>
            <a:r>
              <a:rPr lang="en-US" b="0" i="0" dirty="0">
                <a:solidFill>
                  <a:srgbClr val="303549"/>
                </a:solidFill>
                <a:effectLst/>
                <a:latin typeface="IBM Plex Sans" panose="020B0503050203000203" pitchFamily="34" charset="0"/>
              </a:rPr>
              <a:t> </a:t>
            </a:r>
            <a:r>
              <a:rPr lang="en-US" b="0" i="0" dirty="0" err="1">
                <a:solidFill>
                  <a:srgbClr val="303549"/>
                </a:solidFill>
                <a:effectLst/>
                <a:latin typeface="IBM Plex Sans" panose="020B0503050203000203" pitchFamily="34" charset="0"/>
              </a:rPr>
              <a:t>sudaMEricana</a:t>
            </a:r>
            <a:r>
              <a:rPr lang="en-US" b="0" i="0" dirty="0">
                <a:solidFill>
                  <a:srgbClr val="303549"/>
                </a:solidFill>
                <a:effectLst/>
                <a:latin typeface="IBM Plex Sans" panose="020B0503050203000203" pitchFamily="34" charset="0"/>
              </a:rPr>
              <a:t> de </a:t>
            </a:r>
            <a:r>
              <a:rPr lang="en-US" b="0" i="0" dirty="0" err="1">
                <a:solidFill>
                  <a:srgbClr val="303549"/>
                </a:solidFill>
                <a:effectLst/>
                <a:latin typeface="IBM Plex Sans" panose="020B0503050203000203" pitchFamily="34" charset="0"/>
              </a:rPr>
              <a:t>FutBOL</a:t>
            </a:r>
            <a:r>
              <a:rPr lang="en-US" b="0" i="0" dirty="0">
                <a:solidFill>
                  <a:srgbClr val="303549"/>
                </a:solidFill>
                <a:effectLst/>
                <a:latin typeface="IBM Plex Sans" panose="020B0503050203000203" pitchFamily="34" charset="0"/>
              </a:rPr>
              <a:t>) – </a:t>
            </a:r>
            <a:r>
              <a:rPr lang="ru-RU" b="0" i="0" dirty="0">
                <a:solidFill>
                  <a:srgbClr val="303549"/>
                </a:solidFill>
                <a:effectLst/>
                <a:latin typeface="IBM Plex Sans" panose="020B0503050203000203" pitchFamily="34" charset="0"/>
              </a:rPr>
              <a:t>Южноамериканская конфедерация футбола, </a:t>
            </a:r>
            <a:r>
              <a:rPr lang="en-US" b="0" i="0" dirty="0">
                <a:solidFill>
                  <a:srgbClr val="303549"/>
                </a:solidFill>
                <a:effectLst/>
                <a:latin typeface="IBM Plex Sans" panose="020B0503050203000203" pitchFamily="34" charset="0"/>
              </a:rPr>
              <a:t>UEFA (Union of European Football Associations) – </a:t>
            </a:r>
            <a:r>
              <a:rPr lang="ru-RU" b="0" i="0" dirty="0">
                <a:solidFill>
                  <a:srgbClr val="303549"/>
                </a:solidFill>
                <a:effectLst/>
                <a:latin typeface="IBM Plex Sans" panose="020B0503050203000203" pitchFamily="34" charset="0"/>
              </a:rPr>
              <a:t>союз европейских футбольных ассоциаций, </a:t>
            </a:r>
            <a:r>
              <a:rPr lang="en-US" b="0" i="0" dirty="0">
                <a:solidFill>
                  <a:srgbClr val="303549"/>
                </a:solidFill>
                <a:effectLst/>
                <a:latin typeface="IBM Plex Sans" panose="020B0503050203000203" pitchFamily="34" charset="0"/>
              </a:rPr>
              <a:t>CAF (Confederation of African Football) – </a:t>
            </a:r>
            <a:r>
              <a:rPr lang="ru-RU" b="0" i="0" dirty="0">
                <a:solidFill>
                  <a:srgbClr val="303549"/>
                </a:solidFill>
                <a:effectLst/>
                <a:latin typeface="IBM Plex Sans" panose="020B0503050203000203" pitchFamily="34" charset="0"/>
              </a:rPr>
              <a:t>Африканская конфедерация футбола, </a:t>
            </a:r>
            <a:r>
              <a:rPr lang="en-US" b="0" i="0" dirty="0">
                <a:solidFill>
                  <a:srgbClr val="303549"/>
                </a:solidFill>
                <a:effectLst/>
                <a:latin typeface="IBM Plex Sans" panose="020B0503050203000203" pitchFamily="34" charset="0"/>
              </a:rPr>
              <a:t>AFC (Asian Football Confederation) – </a:t>
            </a:r>
            <a:r>
              <a:rPr lang="ru-RU" b="0" i="0" dirty="0">
                <a:solidFill>
                  <a:srgbClr val="303549"/>
                </a:solidFill>
                <a:effectLst/>
                <a:latin typeface="IBM Plex Sans" panose="020B0503050203000203" pitchFamily="34" charset="0"/>
              </a:rPr>
              <a:t>Азиатская конфедерация футбола, </a:t>
            </a:r>
            <a:r>
              <a:rPr lang="en-US" b="0" i="0" dirty="0">
                <a:solidFill>
                  <a:srgbClr val="303549"/>
                </a:solidFill>
                <a:effectLst/>
                <a:latin typeface="IBM Plex Sans" panose="020B0503050203000203" pitchFamily="34" charset="0"/>
              </a:rPr>
              <a:t>OFC (Oceania Football Confederation) – </a:t>
            </a:r>
            <a:r>
              <a:rPr lang="ru-RU" b="0" i="0" dirty="0">
                <a:solidFill>
                  <a:srgbClr val="303549"/>
                </a:solidFill>
                <a:effectLst/>
                <a:latin typeface="IBM Plex Sans" panose="020B0503050203000203" pitchFamily="34" charset="0"/>
              </a:rPr>
              <a:t>конфедерация футбола Океании. </a:t>
            </a:r>
            <a:endParaRPr lang="ru-RU" dirty="0"/>
          </a:p>
        </p:txBody>
      </p:sp>
    </p:spTree>
    <p:extLst>
      <p:ext uri="{BB962C8B-B14F-4D97-AF65-F5344CB8AC3E}">
        <p14:creationId xmlns:p14="http://schemas.microsoft.com/office/powerpoint/2010/main" val="2770576315"/>
      </p:ext>
    </p:extLst>
  </p:cSld>
  <p:clrMapOvr>
    <a:masterClrMapping/>
  </p:clrMapOvr>
</p:sld>
</file>

<file path=ppt/theme/theme1.xml><?xml version="1.0" encoding="utf-8"?>
<a:theme xmlns:a="http://schemas.openxmlformats.org/drawingml/2006/main" name="Уголки">
  <a:themeElements>
    <a:clrScheme name="Уголки">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Уголки">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Уголки">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TM10001105[[fn=Уголки]]</Template>
  <TotalTime>32</TotalTime>
  <Words>1175</Words>
  <Application>Microsoft Office PowerPoint</Application>
  <PresentationFormat>Широкоэкранный</PresentationFormat>
  <Paragraphs>24</Paragraphs>
  <Slides>9</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9</vt:i4>
      </vt:variant>
    </vt:vector>
  </HeadingPairs>
  <TitlesOfParts>
    <vt:vector size="15" baseType="lpstr">
      <vt:lpstr>Arial</vt:lpstr>
      <vt:lpstr>Franklin Gothic Book</vt:lpstr>
      <vt:lpstr>IBM Plex Sans</vt:lpstr>
      <vt:lpstr>Montserrat</vt:lpstr>
      <vt:lpstr>Times New Roman</vt:lpstr>
      <vt:lpstr>Уголки</vt:lpstr>
      <vt:lpstr>ФУТБОЛ</vt:lpstr>
      <vt:lpstr>История футбола</vt:lpstr>
      <vt:lpstr>Начало международных соревнований </vt:lpstr>
      <vt:lpstr>Разметка в футболе  </vt:lpstr>
      <vt:lpstr>Футбол в России</vt:lpstr>
      <vt:lpstr>Вне игры</vt:lpstr>
      <vt:lpstr>Размеры поля</vt:lpstr>
      <vt:lpstr>Ворота</vt:lpstr>
      <vt:lpstr>Футбольные структуры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ФУТБОЛ</dc:title>
  <dc:creator>Денис Авилов</dc:creator>
  <cp:lastModifiedBy>Денис Авилов</cp:lastModifiedBy>
  <cp:revision>4</cp:revision>
  <dcterms:created xsi:type="dcterms:W3CDTF">2022-04-07T21:08:05Z</dcterms:created>
  <dcterms:modified xsi:type="dcterms:W3CDTF">2022-04-07T21:40:06Z</dcterms:modified>
</cp:coreProperties>
</file>